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98B1A-BC08-494A-AE93-6AFB2870DE9A}" type="datetimeFigureOut">
              <a:rPr lang="en-AE" smtClean="0"/>
              <a:t>16/12/2025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9F356-17FD-4933-9843-2FBA0F34ECC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0505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9F356-17FD-4933-9843-2FBA0F34ECC4}" type="slidenum">
              <a:rPr lang="en-AE" smtClean="0"/>
              <a:t>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60690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66608-315C-220B-F088-949DDF6C1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04362-69A9-CE5D-A0C4-89FC9CDBF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9C5A0-590D-2AA9-EA24-995CE654E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CA03A-A620-428A-B403-A4F50F93143D}" type="datetimeFigureOut">
              <a:rPr lang="en-AE" smtClean="0"/>
              <a:t>16/12/2025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E1D10-3DD0-8A54-AAD8-BD08AF4E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32D93-59F9-8B28-54E1-4872E45FD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2B77-B5C6-476A-9E49-94C38E01A1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46538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59C2-BC6A-F970-74A6-DD6EC82F0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CC87B-E797-CC82-031F-CB4CFBCDD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2307-4F65-8D74-D352-30A87EDDD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CA03A-A620-428A-B403-A4F50F93143D}" type="datetimeFigureOut">
              <a:rPr lang="en-AE" smtClean="0"/>
              <a:t>16/12/2025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F048F-7DFC-8DBF-5064-78D1864C5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E5715-58BE-E0B2-52A2-2F9F044C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2B77-B5C6-476A-9E49-94C38E01A1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116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F7589-E9D0-528A-DE99-1AD96BED3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FBEA2-4F4E-18FB-D7F8-7464FEF19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4EE31-1349-6BA9-7EBA-E2DC7F7DA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CA03A-A620-428A-B403-A4F50F93143D}" type="datetimeFigureOut">
              <a:rPr lang="en-AE" smtClean="0"/>
              <a:t>16/12/2025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E5488-E4A2-3190-CDD8-67FC3672B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C70CA-FFD6-C621-27C2-3F7CC1436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2B77-B5C6-476A-9E49-94C38E01A1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4769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36DB-D076-3344-A0A0-61184AA4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0367D-53B1-A9B0-7191-D389621221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CE786-AD65-FC0A-AE70-2C6149C73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B2285-AF39-5833-DCD7-AF860EA9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CA03A-A620-428A-B403-A4F50F93143D}" type="datetimeFigureOut">
              <a:rPr lang="en-AE" smtClean="0"/>
              <a:t>16/12/2025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D19B5-EC99-5F2E-6BE4-AB686559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21170-9719-A233-4419-0AF64A0C5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2B77-B5C6-476A-9E49-94C38E01A1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0988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418F-1DF8-6202-AA59-0440840DD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4B461-AC57-03F5-646E-2B8A0DC1D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F4080-10E6-86EA-9383-9516F3C95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D8B24F-0FB9-3099-B933-B269C55E6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5702F-688B-D803-12B4-9FFCE581B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BAE742-04C2-1253-6B9F-9E6F2B4EE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CA03A-A620-428A-B403-A4F50F93143D}" type="datetimeFigureOut">
              <a:rPr lang="en-AE" smtClean="0"/>
              <a:t>16/12/2025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3365A5-C5D7-156D-9C18-C71DA7DE5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B04254-58D7-157A-DD2F-0E7820B6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2B77-B5C6-476A-9E49-94C38E01A1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21626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51A0F-F289-6D1C-9C2F-5E6BB9E9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FF5B2C-397B-20CE-0D47-4C289913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CA03A-A620-428A-B403-A4F50F93143D}" type="datetimeFigureOut">
              <a:rPr lang="en-AE" smtClean="0"/>
              <a:t>16/12/2025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F58F7D-EEBE-A6F7-786E-D1CEE4BB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BAC7E-4E48-C916-9BC4-3BF4D10B9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2B77-B5C6-476A-9E49-94C38E01A1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6165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31AEEC-694B-D2A4-8AFF-0F6752E78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CA03A-A620-428A-B403-A4F50F93143D}" type="datetimeFigureOut">
              <a:rPr lang="en-AE" smtClean="0"/>
              <a:t>16/12/2025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99A344-8A98-BA44-4144-0F461A73A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CD718-EE8F-1BBE-245B-F1B532B7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2B77-B5C6-476A-9E49-94C38E01A1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74624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063D-B3E4-BA9D-C4CE-563680C3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123E2-5496-B65C-E4C9-866E59904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BF05EE-0CF3-BC6D-F03E-379FDF357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7ABBF-82A7-BEDD-3711-02302118F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CA03A-A620-428A-B403-A4F50F93143D}" type="datetimeFigureOut">
              <a:rPr lang="en-AE" smtClean="0"/>
              <a:t>16/12/2025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B9E96-D8D6-FB98-3C85-5EC2647CE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D7776-1867-702D-D3BF-97633B06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2B77-B5C6-476A-9E49-94C38E01A1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7135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668E-7122-CB35-C1E0-9C030A123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0569FA-D0A9-BE76-ADB2-D07F071E7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6DB8C-477A-920B-A57B-9C27E9BC4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050CC-ACCB-1777-9D0F-9DFB88314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CA03A-A620-428A-B403-A4F50F93143D}" type="datetimeFigureOut">
              <a:rPr lang="en-AE" smtClean="0"/>
              <a:t>16/12/2025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BC577-7F54-3724-8452-6A4CDAD65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4CD14-434E-40E9-FD38-1490C9E8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2B77-B5C6-476A-9E49-94C38E01A1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33196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17D3B-DC69-0199-9875-4381CC8C2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E3FD3-168F-187B-A6E8-28B1C9E11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865DB-BADE-97D2-1805-15387C82C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CA03A-A620-428A-B403-A4F50F93143D}" type="datetimeFigureOut">
              <a:rPr lang="en-AE" smtClean="0"/>
              <a:t>16/12/2025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C3DCE-441D-3F62-A1C9-096A8D7F7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72350-05A4-CD7E-3426-ADF81451E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2B77-B5C6-476A-9E49-94C38E01A1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055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CE3BE0-E0BC-DF33-D8D4-CD6785D52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D5B4B-6B64-86E7-2812-5D289864B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0E28F-E3BC-DEC6-1198-905751B7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CA03A-A620-428A-B403-A4F50F93143D}" type="datetimeFigureOut">
              <a:rPr lang="en-AE" smtClean="0"/>
              <a:t>16/12/2025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95106-CDF0-EACE-586C-9E6DE05C9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D9F3B-B6ED-1D61-AF91-568A6B8B4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2B77-B5C6-476A-9E49-94C38E01A1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9064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07DA4E-2011-1789-E0F4-BA8305CFE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E6836-E5D3-95EC-0AFB-AFA3BCE36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BEDD1-81B0-A4AF-8D35-D8987546B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CA03A-A620-428A-B403-A4F50F93143D}" type="datetimeFigureOut">
              <a:rPr lang="en-AE" smtClean="0"/>
              <a:t>16/12/2025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8921A-21C6-10F1-B063-14516E138E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215CF-ECD0-48F1-A04F-0EF091D43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82B77-B5C6-476A-9E49-94C38E01A1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05306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4E5D-159B-EA06-3D8D-2BD173A29C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664BC-2352-F04E-AE0C-F74B10DA2B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087BA5E3-B988-FA86-C89A-B001689B0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735" y="1068748"/>
            <a:ext cx="4364620" cy="437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6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E6A7-689A-9C3E-4060-D2AD979A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Architecture Selection Matters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32C0CF-867B-42FE-A503-708F6D3375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5"/>
            <a:ext cx="749916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 strongly affects: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capacity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feasibility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Over-parameterization → unnecessary power &amp; area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Under-parameterization → poor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3870447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FA1E-5CB1-2B79-5EC9-A34973417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Approach: Architecture Search Using ANN Proxy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128205-8A2E-F7F9-88F7-D04EF73DEF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91963"/>
            <a:ext cx="656408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feedforward ANN as a proxy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to train and evaluate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estimate: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Required hidden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depth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SNN architecture chosen based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08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83BC6-451E-DDF6-1038-347CB9ABC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Generation</a:t>
            </a:r>
            <a:endParaRPr lang="en-AE" dirty="0"/>
          </a:p>
        </p:txBody>
      </p:sp>
      <p:pic>
        <p:nvPicPr>
          <p:cNvPr id="5" name="Content Placeholder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89D4EE2-C41A-1E0A-874A-224E8216AC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4914" y="2053306"/>
            <a:ext cx="7792537" cy="121937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3C8D64D-4807-32C9-5973-2C1916E3F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827" y="3931334"/>
            <a:ext cx="68361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This function automatically generates all candidate architectures,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ensuring we do not bias the selection process.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84C1DE-3402-1700-ECF5-5B25F254702F}"/>
              </a:ext>
            </a:extLst>
          </p:cNvPr>
          <p:cNvSpPr txBox="1"/>
          <p:nvPr/>
        </p:nvSpPr>
        <p:spPr>
          <a:xfrm>
            <a:off x="3918857" y="523632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Parameters explored: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Hidden layer size: {12, 16, 20, 24}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Number of hidden layers: up to 3</a:t>
            </a:r>
          </a:p>
        </p:txBody>
      </p:sp>
    </p:spTree>
    <p:extLst>
      <p:ext uri="{BB962C8B-B14F-4D97-AF65-F5344CB8AC3E}">
        <p14:creationId xmlns:p14="http://schemas.microsoft.com/office/powerpoint/2010/main" val="1267842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31A1A-8E7F-09C7-E9C2-9B6D0D458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Model Used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A3D895-7DB2-2C43-28C4-287D779733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7"/>
            <a:ext cx="403507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connected feedforward network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Sigmoid activation: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using backpropagation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weight initialization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3643DB-C085-50F8-1F3F-5703C36F0060}"/>
                  </a:ext>
                </a:extLst>
              </p:cNvPr>
              <p:cNvSpPr txBox="1"/>
              <p:nvPr/>
            </p:nvSpPr>
            <p:spPr>
              <a:xfrm>
                <a:off x="2855739" y="3429000"/>
                <a:ext cx="6096000" cy="1161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sz="2400" b="1" i="1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AE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E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AE" sz="2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E" sz="2400" b="1" i="0"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E" sz="2400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E" sz="2400" b="1" i="1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AE" sz="2400" b="1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E" sz="2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E" sz="2400" b="1" i="1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AE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E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AE" sz="24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E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E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E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AE" sz="2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AE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E" sz="2400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AE" sz="24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E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p>
                          </m:sSup>
                        </m:den>
                      </m:f>
                      <m:r>
                        <a:rPr lang="en-AE" sz="2400" b="1" i="1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AE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E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AE" sz="2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E" sz="2400" b="1" i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E" sz="2400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E" sz="2400" b="1" i="1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AE" sz="2400" b="1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E" sz="2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E" sz="2400" b="1" i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E" sz="2400" b="1" i="0"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en-AE" sz="24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3643DB-C085-50F8-1F3F-5703C36F0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739" y="3429000"/>
                <a:ext cx="6096000" cy="11617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26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75E8-6728-64EF-2238-77DFF192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and Evaluation Metric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04C49-887E-71D5-3C98-EA4B77912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Training:</a:t>
            </a:r>
          </a:p>
          <a:p>
            <a:r>
              <a:rPr lang="en-US" sz="2400" dirty="0"/>
              <a:t>100 epochs per architecture</a:t>
            </a:r>
          </a:p>
          <a:p>
            <a:r>
              <a:rPr lang="en-US" sz="2400" dirty="0"/>
              <a:t>Learning rate = 0.05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Lower error → better architectural fit</a:t>
            </a:r>
          </a:p>
          <a:p>
            <a:endParaRPr lang="en-A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CF569F-3FC6-7FBC-9EC0-5946ECA5AC0D}"/>
                  </a:ext>
                </a:extLst>
              </p:cNvPr>
              <p:cNvSpPr txBox="1"/>
              <p:nvPr/>
            </p:nvSpPr>
            <p:spPr>
              <a:xfrm>
                <a:off x="3222171" y="3429000"/>
                <a:ext cx="6096000" cy="130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sz="2800" b="1" i="1" smtClean="0">
                          <a:latin typeface="Cambria Math" panose="02040503050406030204" pitchFamily="18" charset="0"/>
                        </a:rPr>
                        <m:t>𝐌𝐒𝐄</m:t>
                      </m:r>
                      <m:r>
                        <a:rPr lang="en-AE" sz="28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E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E" sz="28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E" sz="2800" b="1" i="1"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AE" sz="28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AE" sz="2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AE" sz="2800" b="1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E" sz="28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AE" sz="2800" b="1" i="1"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sSup>
                            <m:sSupPr>
                              <m:ctrlPr>
                                <a:rPr lang="en-AE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AE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AE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E" sz="28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AE" sz="2800" b="1" i="1">
                                          <a:latin typeface="Cambria Math" panose="02040503050406030204" pitchFamily="18" charset="0"/>
                                        </a:rPr>
                                        <m:t>𝒑𝒓𝒆𝒅</m:t>
                                      </m:r>
                                      <m:r>
                                        <a:rPr lang="en-AE" sz="2800" b="1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AE" sz="28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AE" sz="2800" b="1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AE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E" sz="28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AE" sz="2800" b="1" i="1">
                                          <a:latin typeface="Cambria Math" panose="02040503050406030204" pitchFamily="18" charset="0"/>
                                        </a:rPr>
                                        <m:t>𝒕𝒓𝒖𝒆</m:t>
                                      </m:r>
                                      <m:r>
                                        <a:rPr lang="en-AE" sz="2800" b="1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AE" sz="28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AE" sz="28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AE" sz="2800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CF569F-3FC6-7FBC-9EC0-5946ECA5A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171" y="3429000"/>
                <a:ext cx="6096000" cy="13038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712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E3332-8D83-BDB6-A8BA-E0448435E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Exhaustive Evaluation Results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4E5207-1EB6-4E3B-82FC-72AF89ECE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10962"/>
            <a:ext cx="526618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architectures trained independently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 recorded per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architecture selected by minimum final error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B7D8F6-6B9B-2B8F-B51B-576995C5C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942" y="3352768"/>
            <a:ext cx="6916115" cy="4572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334E31-CD7A-F563-8434-7EE1DC2F7088}"/>
              </a:ext>
            </a:extLst>
          </p:cNvPr>
          <p:cNvSpPr txBox="1"/>
          <p:nvPr/>
        </p:nvSpPr>
        <p:spPr>
          <a:xfrm>
            <a:off x="3056385" y="44395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guarantees objective selection without manual tuning.</a:t>
            </a:r>
          </a:p>
        </p:txBody>
      </p:sp>
    </p:spTree>
    <p:extLst>
      <p:ext uri="{BB962C8B-B14F-4D97-AF65-F5344CB8AC3E}">
        <p14:creationId xmlns:p14="http://schemas.microsoft.com/office/powerpoint/2010/main" val="401520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F782F-28CA-8509-4C52-A7F3B4575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Result: Best Architecture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2B579-6269-7FE0-7CE3-62CEAF82E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Best performing architecture:</a:t>
            </a:r>
            <a:endParaRPr lang="en-US" dirty="0"/>
          </a:p>
          <a:p>
            <a:pPr lvl="1"/>
            <a:r>
              <a:rPr lang="en-US" dirty="0"/>
              <a:t>9 input neurons</a:t>
            </a:r>
          </a:p>
          <a:p>
            <a:pPr lvl="1"/>
            <a:r>
              <a:rPr lang="en-US" b="1" dirty="0"/>
              <a:t>1 hidden layer</a:t>
            </a:r>
            <a:endParaRPr lang="en-US" dirty="0"/>
          </a:p>
          <a:p>
            <a:pPr lvl="1"/>
            <a:r>
              <a:rPr lang="en-US" b="1" dirty="0"/>
              <a:t>12 hidden neurons</a:t>
            </a:r>
            <a:endParaRPr lang="en-US" dirty="0"/>
          </a:p>
          <a:p>
            <a:pPr lvl="1"/>
            <a:r>
              <a:rPr lang="en-US" dirty="0"/>
              <a:t>4 output neurons</a:t>
            </a:r>
          </a:p>
          <a:p>
            <a:r>
              <a:rPr lang="en-US" dirty="0"/>
              <a:t>Deeper or wider networks:</a:t>
            </a:r>
          </a:p>
          <a:p>
            <a:pPr lvl="1"/>
            <a:r>
              <a:rPr lang="en-US" dirty="0"/>
              <a:t>Did not improve error significantly</a:t>
            </a:r>
          </a:p>
          <a:p>
            <a:pPr lvl="1"/>
            <a:r>
              <a:rPr lang="en-US" dirty="0"/>
              <a:t>Increased complexity</a:t>
            </a:r>
          </a:p>
          <a:p>
            <a:r>
              <a:rPr lang="en-US" b="1" dirty="0"/>
              <a:t>What to say clearly:</a:t>
            </a:r>
            <a:endParaRPr lang="en-US" dirty="0"/>
          </a:p>
          <a:p>
            <a:r>
              <a:rPr lang="en-US" dirty="0"/>
              <a:t>For our task, a single hidden layer with 12 neurons is sufficient.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697609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FCD2-9F73-B997-D580-BA41CCAB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&amp; Adaptation in the Proposed SNN</a:t>
            </a:r>
            <a:endParaRPr lang="en-A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DCB8505-09EA-9526-34A6-37491410B6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6547" y="612354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8B89E6-90E7-FE29-6D85-DCF0A6E37B8E}"/>
              </a:ext>
            </a:extLst>
          </p:cNvPr>
          <p:cNvSpPr txBox="1"/>
          <p:nvPr/>
        </p:nvSpPr>
        <p:spPr>
          <a:xfrm>
            <a:off x="3488871" y="2891452"/>
            <a:ext cx="52142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Once the architecture was fixed, the next challenge was enabling learning directly within a memristor-modeled spiking system…</a:t>
            </a:r>
            <a:endParaRPr lang="en-AE" sz="2000" dirty="0"/>
          </a:p>
        </p:txBody>
      </p:sp>
    </p:spTree>
    <p:extLst>
      <p:ext uri="{BB962C8B-B14F-4D97-AF65-F5344CB8AC3E}">
        <p14:creationId xmlns:p14="http://schemas.microsoft.com/office/powerpoint/2010/main" val="4003202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26E67-834B-A44A-99BE-5AF87B872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Synaptic Potentiation (Strengthening Connections)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F7D9C6-EEAC-A19C-AD81-DF11C3443A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2999" y="2760047"/>
            <a:ext cx="757645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Occurs when: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Pre-synaptic neuron spikes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Post-synaptic neuron spikes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Correlated activity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Reinforcement of useful pathways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4C7704-195F-D24A-7301-351A40C6FC20}"/>
                  </a:ext>
                </a:extLst>
              </p:cNvPr>
              <p:cNvSpPr txBox="1"/>
              <p:nvPr/>
            </p:nvSpPr>
            <p:spPr>
              <a:xfrm>
                <a:off x="5453743" y="3244334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sz="4000" b="1" i="1" smtClean="0">
                          <a:latin typeface="Cambria Math" panose="02040503050406030204" pitchFamily="18" charset="0"/>
                        </a:rPr>
                        <m:t>𝑮𝒊𝒋</m:t>
                      </m:r>
                      <m:r>
                        <a:rPr lang="en-AE" sz="4000" b="1" i="0">
                          <a:latin typeface="Cambria Math" panose="02040503050406030204" pitchFamily="18" charset="0"/>
                        </a:rPr>
                        <m:t>​←</m:t>
                      </m:r>
                      <m:r>
                        <a:rPr lang="en-AE" sz="4000" b="1" i="1">
                          <a:latin typeface="Cambria Math" panose="02040503050406030204" pitchFamily="18" charset="0"/>
                        </a:rPr>
                        <m:t>𝑮𝒊𝒋</m:t>
                      </m:r>
                      <m:r>
                        <a:rPr lang="en-AE" sz="4000" b="1" i="0">
                          <a:latin typeface="Cambria Math" panose="02040503050406030204" pitchFamily="18" charset="0"/>
                        </a:rPr>
                        <m:t>​+</m:t>
                      </m:r>
                      <m:r>
                        <a:rPr lang="en-AE" sz="4000" b="1" i="1">
                          <a:latin typeface="Cambria Math" panose="02040503050406030204" pitchFamily="18" charset="0"/>
                        </a:rPr>
                        <m:t>𝜟</m:t>
                      </m:r>
                      <m:r>
                        <a:rPr lang="en-AE" sz="4000" b="1" i="1">
                          <a:latin typeface="Cambria Math" panose="02040503050406030204" pitchFamily="18" charset="0"/>
                        </a:rPr>
                        <m:t>𝒕𝒓𝒂𝒊𝒏</m:t>
                      </m:r>
                      <m:r>
                        <a:rPr lang="en-AE" sz="4000" b="1" i="0"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en-AE" sz="40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4C7704-195F-D24A-7301-351A40C6F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743" y="3244334"/>
                <a:ext cx="609600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370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C7401-668B-2362-422E-FAFD8AAD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Synaptic Depression (Suppressing Competition)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246A1A-C5CB-846E-0EC9-30D2520C91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to non-target outputs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winner-take-all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ambiguous decisions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DF664E-79C5-1BA8-61DB-93D0B89FB7B0}"/>
                  </a:ext>
                </a:extLst>
              </p:cNvPr>
              <p:cNvSpPr txBox="1"/>
              <p:nvPr/>
            </p:nvSpPr>
            <p:spPr>
              <a:xfrm>
                <a:off x="5475515" y="3255219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sz="4000" b="1" i="1" smtClean="0">
                          <a:latin typeface="Cambria Math" panose="02040503050406030204" pitchFamily="18" charset="0"/>
                        </a:rPr>
                        <m:t>𝑮𝒉𝒋</m:t>
                      </m:r>
                      <m:r>
                        <a:rPr lang="en-AE" sz="4000" b="1" i="0">
                          <a:latin typeface="Cambria Math" panose="02040503050406030204" pitchFamily="18" charset="0"/>
                        </a:rPr>
                        <m:t>​←</m:t>
                      </m:r>
                      <m:r>
                        <a:rPr lang="en-AE" sz="4000" b="1" i="1">
                          <a:latin typeface="Cambria Math" panose="02040503050406030204" pitchFamily="18" charset="0"/>
                        </a:rPr>
                        <m:t>𝑮𝒉𝒋</m:t>
                      </m:r>
                      <m:r>
                        <a:rPr lang="en-AE" sz="4000" b="1" i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en-AE" sz="4000" b="1" i="1">
                          <a:latin typeface="Cambria Math" panose="02040503050406030204" pitchFamily="18" charset="0"/>
                        </a:rPr>
                        <m:t>𝜟</m:t>
                      </m:r>
                      <m:r>
                        <a:rPr lang="en-AE" sz="4000" b="1" i="1">
                          <a:latin typeface="Cambria Math" panose="02040503050406030204" pitchFamily="18" charset="0"/>
                        </a:rPr>
                        <m:t>𝒅𝒆𝒑</m:t>
                      </m:r>
                    </m:oMath>
                  </m:oMathPara>
                </a14:m>
                <a:endParaRPr lang="en-AE" sz="40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DF664E-79C5-1BA8-61DB-93D0B89FB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515" y="3255219"/>
                <a:ext cx="609600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24A4CDD-B7B7-8B87-975A-E82C5F87BD61}"/>
              </a:ext>
            </a:extLst>
          </p:cNvPr>
          <p:cNvSpPr txBox="1"/>
          <p:nvPr/>
        </p:nvSpPr>
        <p:spPr>
          <a:xfrm>
            <a:off x="4528457" y="525363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Effect: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Sharpens decision boundaries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output neuron co-activation</a:t>
            </a:r>
          </a:p>
        </p:txBody>
      </p:sp>
    </p:spTree>
    <p:extLst>
      <p:ext uri="{BB962C8B-B14F-4D97-AF65-F5344CB8AC3E}">
        <p14:creationId xmlns:p14="http://schemas.microsoft.com/office/powerpoint/2010/main" val="3133455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5179-227D-5E56-E652-128A00364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Potentiation &amp; Depression Occur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CBD5-3E1D-E23D-C71B-4101B9D3D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68630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Input → Hidden</a:t>
            </a:r>
            <a:endParaRPr lang="en-US" dirty="0"/>
          </a:p>
          <a:p>
            <a:pPr lvl="1"/>
            <a:r>
              <a:rPr lang="en-US" dirty="0"/>
              <a:t>Potentiation on spike coincidence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Hidden → Output</a:t>
            </a:r>
            <a:endParaRPr lang="en-US" dirty="0"/>
          </a:p>
          <a:p>
            <a:pPr lvl="1"/>
            <a:r>
              <a:rPr lang="en-US" dirty="0"/>
              <a:t>Target output potentiated</a:t>
            </a:r>
          </a:p>
          <a:p>
            <a:pPr lvl="1"/>
            <a:r>
              <a:rPr lang="en-US" dirty="0"/>
              <a:t>Competing outputs depressed</a:t>
            </a:r>
          </a:p>
          <a:p>
            <a:pPr lvl="1"/>
            <a:endParaRPr lang="en-US" dirty="0"/>
          </a:p>
          <a:p>
            <a:endParaRPr lang="en-A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72EAE-E6BF-F394-E261-E7C8B7B2DDA4}"/>
              </a:ext>
            </a:extLst>
          </p:cNvPr>
          <p:cNvSpPr txBox="1"/>
          <p:nvPr/>
        </p:nvSpPr>
        <p:spPr>
          <a:xfrm>
            <a:off x="7598229" y="2737702"/>
            <a:ext cx="3755571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Key message:</a:t>
            </a:r>
            <a:endParaRPr lang="en-US" sz="3200" dirty="0"/>
          </a:p>
          <a:p>
            <a:pPr>
              <a:buNone/>
            </a:pPr>
            <a:r>
              <a:rPr lang="en-US" sz="2800" dirty="0"/>
              <a:t>Learning is local, layer-specific, and hardware-compatible.</a:t>
            </a:r>
          </a:p>
        </p:txBody>
      </p:sp>
    </p:spTree>
    <p:extLst>
      <p:ext uri="{BB962C8B-B14F-4D97-AF65-F5344CB8AC3E}">
        <p14:creationId xmlns:p14="http://schemas.microsoft.com/office/powerpoint/2010/main" val="256654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04C59-FEE3-CF27-B0FA-402CEB68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Learning: Why It Is Needed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3C19EC-1601-1EDE-151D-1E922A0DB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3782943"/>
            <a:ext cx="470192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 per output direction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Updated using exponential moving average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5CDDB9-E658-A104-B4C0-D76876337151}"/>
                  </a:ext>
                </a:extLst>
              </p:cNvPr>
              <p:cNvSpPr txBox="1"/>
              <p:nvPr/>
            </p:nvSpPr>
            <p:spPr>
              <a:xfrm>
                <a:off x="5257800" y="3075057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sz="4000" b="1" i="1" smtClean="0">
                          <a:latin typeface="Cambria Math" panose="02040503050406030204" pitchFamily="18" charset="0"/>
                        </a:rPr>
                        <m:t>𝑷𝒌</m:t>
                      </m:r>
                      <m:r>
                        <a:rPr lang="en-AE" sz="4000" b="1" i="0">
                          <a:latin typeface="Cambria Math" panose="02040503050406030204" pitchFamily="18" charset="0"/>
                        </a:rPr>
                        <m:t>​←</m:t>
                      </m:r>
                      <m:r>
                        <a:rPr lang="en-AE" sz="4000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AE" sz="4000" b="1" i="1">
                          <a:latin typeface="Cambria Math" panose="02040503050406030204" pitchFamily="18" charset="0"/>
                        </a:rPr>
                        <m:t>𝑷𝒌</m:t>
                      </m:r>
                      <m:r>
                        <a:rPr lang="en-AE" sz="4000" b="1" i="0">
                          <a:latin typeface="Cambria Math" panose="02040503050406030204" pitchFamily="18" charset="0"/>
                        </a:rPr>
                        <m:t>​+</m:t>
                      </m:r>
                      <m:d>
                        <m:dPr>
                          <m:ctrlPr>
                            <a:rPr lang="en-AE" sz="4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E" sz="40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AE" sz="40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E" sz="4000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AE" sz="4000" b="1" i="1"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en-AE" sz="40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5CDDB9-E658-A104-B4C0-D76876337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3075057"/>
                <a:ext cx="609600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FE56112-D185-C530-FC48-4125C1D5BBC2}"/>
              </a:ext>
            </a:extLst>
          </p:cNvPr>
          <p:cNvSpPr txBox="1"/>
          <p:nvPr/>
        </p:nvSpPr>
        <p:spPr>
          <a:xfrm>
            <a:off x="1088571" y="2642328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Spiking systems can be:</a:t>
            </a:r>
          </a:p>
          <a:p>
            <a:pPr lvl="1"/>
            <a:r>
              <a:rPr lang="en-US" dirty="0"/>
              <a:t>Sparse</a:t>
            </a:r>
          </a:p>
          <a:p>
            <a:pPr lvl="1"/>
            <a:r>
              <a:rPr lang="en-US" dirty="0"/>
              <a:t>Noisy</a:t>
            </a:r>
          </a:p>
          <a:p>
            <a:r>
              <a:rPr lang="en-US" dirty="0"/>
              <a:t>Pure WTA can:</a:t>
            </a:r>
          </a:p>
          <a:p>
            <a:pPr lvl="1"/>
            <a:r>
              <a:rPr lang="en-US" dirty="0"/>
              <a:t>Flicker</a:t>
            </a:r>
          </a:p>
          <a:p>
            <a:pPr lvl="1"/>
            <a:r>
              <a:rPr lang="en-US" dirty="0"/>
              <a:t>Misfire under weak signals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Solution:</a:t>
            </a:r>
            <a:endParaRPr lang="en-US" dirty="0"/>
          </a:p>
          <a:p>
            <a:r>
              <a:rPr lang="en-US" dirty="0"/>
              <a:t>Maintain learned prototypes of sensor patterns</a:t>
            </a:r>
          </a:p>
          <a:p>
            <a:r>
              <a:rPr lang="en-US" dirty="0"/>
              <a:t>Use them to bias, not override, decisions</a:t>
            </a:r>
          </a:p>
        </p:txBody>
      </p:sp>
    </p:spTree>
    <p:extLst>
      <p:ext uri="{BB962C8B-B14F-4D97-AF65-F5344CB8AC3E}">
        <p14:creationId xmlns:p14="http://schemas.microsoft.com/office/powerpoint/2010/main" val="3004402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318DF9AB-6272-E6E4-D66A-D78F7592E7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08514" y="1853594"/>
            <a:ext cx="728826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Reinforces correct pathways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Depression: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Suppresses incorrect alternatives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Stabilize behavior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485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437</Words>
  <Application>Microsoft Office PowerPoint</Application>
  <PresentationFormat>Widescreen</PresentationFormat>
  <Paragraphs>127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PowerPoint Presentation</vt:lpstr>
      <vt:lpstr>Why Architecture Selection Matters</vt:lpstr>
      <vt:lpstr>Approach: Architecture Search Using ANN Proxy</vt:lpstr>
      <vt:lpstr>Architecture Generation</vt:lpstr>
      <vt:lpstr>Neural Network Model Used</vt:lpstr>
      <vt:lpstr>Training and Evaluation Metric</vt:lpstr>
      <vt:lpstr>Exhaustive Evaluation Results</vt:lpstr>
      <vt:lpstr>Key Result: Best Architecture</vt:lpstr>
      <vt:lpstr>Learning &amp; Adaptation in the Proposed SNN</vt:lpstr>
      <vt:lpstr>Synaptic Potentiation (Strengthening Connections) </vt:lpstr>
      <vt:lpstr>Synaptic Depression (Suppressing Competition)</vt:lpstr>
      <vt:lpstr>Where Potentiation &amp; Depression Occur</vt:lpstr>
      <vt:lpstr>Prototype Learning: Why It Is Needed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 aadhithya</dc:creator>
  <cp:lastModifiedBy>jai aadhithya</cp:lastModifiedBy>
  <cp:revision>2</cp:revision>
  <dcterms:created xsi:type="dcterms:W3CDTF">2025-12-15T21:03:51Z</dcterms:created>
  <dcterms:modified xsi:type="dcterms:W3CDTF">2025-12-15T23:13:08Z</dcterms:modified>
</cp:coreProperties>
</file>